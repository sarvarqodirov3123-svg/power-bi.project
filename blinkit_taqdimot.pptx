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Fat Content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831F"/>
              </a:solidFill>
              <a:effectLst/>
            </c:spPr>
          </c:dPt>
          <c:dPt>
            <c:idx val="1"/>
            <c:bubble3D val="0"/>
            <c:spPr>
              <a:solidFill>
                <a:srgbClr val="F8CB46"/>
              </a:solidFill>
              <a:effectLst/>
            </c:spPr>
          </c:dPt>
          <c:dPt>
            <c:idx val="2"/>
            <c:bubble3D val="0"/>
            <c:spPr>
              <a:solidFill>
                <a:srgbClr val="9BD3A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6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6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2261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Fat</c:v>
                </c:pt>
                <c:pt idx="1">
                  <c:v>Regular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52</c:v>
                </c:pt>
                <c:pt idx="1">
                  <c:v>30</c:v>
                </c:pt>
                <c:pt idx="2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C83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70</c:v>
                </c:pt>
                <c:pt idx="2">
                  <c:v>60</c:v>
                </c:pt>
                <c:pt idx="3">
                  <c:v>45</c:v>
                </c:pt>
                <c:pt idx="4">
                  <c:v>35</c:v>
                </c:pt>
                <c:pt idx="5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66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C831F"/>
            </a:solidFill>
            <a:ln w="31750" cap="flat">
              <a:solidFill>
                <a:srgbClr val="0C83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C831F"/>
              </a:solidFill>
              <a:ln w="9525" cap="flat">
                <a:solidFill>
                  <a:srgbClr val="0C83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'98</c:v>
                  </c:pt>
                  <c:pt idx="1">
                    <c:v>'02</c:v>
                  </c:pt>
                  <c:pt idx="2">
                    <c:v>'06</c:v>
                  </c:pt>
                  <c:pt idx="3">
                    <c:v>'09</c:v>
                  </c:pt>
                  <c:pt idx="4">
                    <c:v>'12</c:v>
                  </c:pt>
                  <c:pt idx="5">
                    <c:v>'15</c:v>
                  </c:pt>
                  <c:pt idx="6">
                    <c:v>'18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15</c:v>
                </c:pt>
                <c:pt idx="2">
                  <c:v>17</c:v>
                </c:pt>
                <c:pt idx="3">
                  <c:v>28</c:v>
                </c:pt>
                <c:pt idx="4">
                  <c:v>24</c:v>
                </c:pt>
                <c:pt idx="5">
                  <c:v>34</c:v>
                </c:pt>
                <c:pt idx="6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C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BlinkIT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savdo tahlili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3246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Do'konlar, mahsulotlar va mijoz reytingi bitta interaktiv Power BI dashboardda.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41248" y="4114800"/>
            <a:ext cx="86868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38100">
            <a:solidFill>
              <a:srgbClr val="0C83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4114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92808" y="4114800"/>
            <a:ext cx="86868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38100">
            <a:solidFill>
              <a:srgbClr val="0C83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92808" y="4114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944368" y="4114800"/>
            <a:ext cx="86868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38100">
            <a:solidFill>
              <a:srgbClr val="0C83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44368" y="4114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995928" y="4114800"/>
            <a:ext cx="86868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38100">
            <a:solidFill>
              <a:srgbClr val="0C83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95928" y="4114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41248" y="5989320"/>
            <a:ext cx="2377440" cy="457200"/>
          </a:xfrm>
          <a:prstGeom prst="roundRect">
            <a:avLst>
              <a:gd name="adj" fmla="val 20000"/>
            </a:avLst>
          </a:prstGeom>
          <a:solidFill>
            <a:srgbClr val="0C83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loyihasi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Savdoni uch kesimda ko'ramiz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08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“nima sotilyapti, qayerda sotilyapti va vaqt o'tishi bilan qanday o'zgaryapti” savollariga javob beradi.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423160"/>
            <a:ext cx="3429000" cy="54864"/>
          </a:xfrm>
          <a:prstGeom prst="rect">
            <a:avLst/>
          </a:prstGeom>
          <a:solidFill>
            <a:srgbClr val="0C83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 va Item Fat Content bo'yicha savdo ulushi.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98848" y="2423160"/>
            <a:ext cx="3429000" cy="54864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98848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Type, Size va Location Type bo'yicha taqqoslash.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6448" y="2423160"/>
            <a:ext cx="3429000" cy="54864"/>
          </a:xfrm>
          <a:prstGeom prst="rect">
            <a:avLst/>
          </a:prstGeom>
          <a:solidFill>
            <a:srgbClr val="1226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56448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 ochilgan yil bo'yicha savdo dinamikasi.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To'rtta asosiy ko'rsatkich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08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tepasidagi KPI kartalar holatni bir qarashda ko'rsatadi.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377440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6060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8CB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9848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42416" y="3337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42416" y="37947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savdo summasi.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2377440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26060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8CB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3337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67328" y="37947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O'rtacha savdo qiymati.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91072" y="2377440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19672" y="26060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8CB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19672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337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Sotilgan mahsulotlar soni.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15984" y="2377440"/>
            <a:ext cx="254203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4584" y="2606040"/>
            <a:ext cx="594360" cy="594360"/>
          </a:xfrm>
          <a:prstGeom prst="roundRect">
            <a:avLst>
              <a:gd name="adj" fmla="val 18462"/>
            </a:avLst>
          </a:prstGeom>
          <a:solidFill>
            <a:srgbClr val="F8CB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44584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217152" y="33375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17152" y="379476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Mijozlarning o'rtacha bahosi.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tuzilmasi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08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tahlil bitta jadval, </a:t>
            </a:r>
            <a:pPr indent="0" marL="0">
              <a:buNone/>
            </a:pPr>
            <a:r>
              <a:rPr lang="en-US" sz="1500" b="1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Grocery Data</a:t>
            </a:r>
            <a:pPr indent="0" marL="0">
              <a:buNone/>
            </a:pPr>
            <a:r>
              <a:rPr lang="en-US" sz="15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asosida qurilgan.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2377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Ko'rsatkichlar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2926080"/>
            <a:ext cx="1202436" cy="384048"/>
          </a:xfrm>
          <a:prstGeom prst="roundRect">
            <a:avLst>
              <a:gd name="adj" fmla="val 19048"/>
            </a:avLst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926080"/>
            <a:ext cx="120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80844" y="2926080"/>
            <a:ext cx="1394460" cy="384048"/>
          </a:xfrm>
          <a:prstGeom prst="roundRect">
            <a:avLst>
              <a:gd name="adj" fmla="val 19048"/>
            </a:avLst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80844" y="2926080"/>
            <a:ext cx="1394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712464" y="2926080"/>
            <a:ext cx="1490472" cy="384048"/>
          </a:xfrm>
          <a:prstGeom prst="roundRect">
            <a:avLst>
              <a:gd name="adj" fmla="val 19048"/>
            </a:avLst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12464" y="292608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3429000"/>
            <a:ext cx="1586484" cy="384048"/>
          </a:xfrm>
          <a:prstGeom prst="roundRect">
            <a:avLst>
              <a:gd name="adj" fmla="val 19048"/>
            </a:avLst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429000"/>
            <a:ext cx="1586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4892" y="3429000"/>
            <a:ext cx="1586484" cy="384048"/>
          </a:xfrm>
          <a:prstGeom prst="roundRect">
            <a:avLst>
              <a:gd name="adj" fmla="val 19048"/>
            </a:avLst>
          </a:prstGeom>
          <a:solidFill>
            <a:srgbClr val="0C831F"/>
          </a:solidFill>
          <a:ln w="12700">
            <a:solidFill>
              <a:srgbClr val="0C83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4892" y="3429000"/>
            <a:ext cx="15864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Visibility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77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Kesimlar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2926080"/>
            <a:ext cx="1010412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926080"/>
            <a:ext cx="1010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Type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11212" y="2926080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11212" y="292608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Fat Content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30868" y="2926080"/>
            <a:ext cx="120243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0868" y="2926080"/>
            <a:ext cx="120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Type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429000"/>
            <a:ext cx="1202436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3429000"/>
            <a:ext cx="1202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Size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603236" y="3429000"/>
            <a:ext cx="2066544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03236" y="34290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Location Type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393192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3931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Establishment Year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tarkibi: 27 ta vizual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1248" y="1417320"/>
            <a:ext cx="2542032" cy="685800"/>
          </a:xfrm>
          <a:prstGeom prst="roundRect">
            <a:avLst>
              <a:gd name="adj" fmla="val 9333"/>
            </a:avLst>
          </a:prstGeom>
          <a:solidFill>
            <a:srgbClr val="F8CB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417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66160" y="1417320"/>
            <a:ext cx="2542032" cy="685800"/>
          </a:xfrm>
          <a:prstGeom prst="roundRect">
            <a:avLst>
              <a:gd name="adj" fmla="val 9333"/>
            </a:avLst>
          </a:prstGeom>
          <a:solidFill>
            <a:srgbClr val="F8CB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730752" y="1417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91072" y="1417320"/>
            <a:ext cx="2542032" cy="685800"/>
          </a:xfrm>
          <a:prstGeom prst="roundRect">
            <a:avLst>
              <a:gd name="adj" fmla="val 9333"/>
            </a:avLst>
          </a:prstGeom>
          <a:solidFill>
            <a:srgbClr val="F8CB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55664" y="1417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015984" y="1417320"/>
            <a:ext cx="2542032" cy="685800"/>
          </a:xfrm>
          <a:prstGeom prst="roundRect">
            <a:avLst>
              <a:gd name="adj" fmla="val 9333"/>
            </a:avLst>
          </a:prstGeom>
          <a:solidFill>
            <a:srgbClr val="F8CB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0576" y="141732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23317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Fat Content, Outlet Size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1755648" y="2788920"/>
          <a:ext cx="15544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4407408" y="23317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Bar: Item Type</a:t>
            </a:r>
            <a:endParaRPr lang="en-US" sz="12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4544568" y="2743200"/>
          <a:ext cx="31089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7973568" y="23317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138160" y="2441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Line: Establishment Year</a:t>
            </a:r>
            <a:endParaRPr lang="en-US" sz="1250" dirty="0"/>
          </a:p>
        </p:txBody>
      </p:sp>
      <p:graphicFrame>
        <p:nvGraphicFramePr>
          <p:cNvPr id="19" name="Chart 2" descr=""/>
          <p:cNvGraphicFramePr/>
          <p:nvPr/>
        </p:nvGraphicFramePr>
        <p:xfrm>
          <a:off x="8110728" y="2743200"/>
          <a:ext cx="31089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Shape 15"/>
          <p:cNvSpPr/>
          <p:nvPr/>
        </p:nvSpPr>
        <p:spPr>
          <a:xfrm>
            <a:off x="841248" y="443484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05840" y="4544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Funnel: Location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 flipV="1">
            <a:off x="1664208" y="5029200"/>
            <a:ext cx="1737360" cy="310896"/>
          </a:xfrm>
          <a:prstGeom prst="trapezoid">
            <a:avLst/>
          </a:prstGeom>
          <a:solidFill>
            <a:srgbClr val="0C831F"/>
          </a:solidFill>
          <a:ln/>
        </p:spPr>
      </p:sp>
      <p:sp>
        <p:nvSpPr>
          <p:cNvPr id="23" name="Shape 18"/>
          <p:cNvSpPr/>
          <p:nvPr/>
        </p:nvSpPr>
        <p:spPr>
          <a:xfrm flipV="1">
            <a:off x="1938528" y="5413248"/>
            <a:ext cx="1188720" cy="310896"/>
          </a:xfrm>
          <a:prstGeom prst="trapezoid">
            <a:avLst/>
          </a:prstGeom>
          <a:solidFill>
            <a:srgbClr val="3CA24F"/>
          </a:solidFill>
          <a:ln/>
        </p:spPr>
      </p:sp>
      <p:sp>
        <p:nvSpPr>
          <p:cNvPr id="24" name="Shape 19"/>
          <p:cNvSpPr/>
          <p:nvPr/>
        </p:nvSpPr>
        <p:spPr>
          <a:xfrm flipV="1">
            <a:off x="2189988" y="5797296"/>
            <a:ext cx="685800" cy="310896"/>
          </a:xfrm>
          <a:prstGeom prst="trapezoid">
            <a:avLst/>
          </a:prstGeom>
          <a:solidFill>
            <a:srgbClr val="9BD3A4"/>
          </a:solidFill>
          <a:ln/>
        </p:spPr>
      </p:sp>
      <p:sp>
        <p:nvSpPr>
          <p:cNvPr id="25" name="Shape 20"/>
          <p:cNvSpPr/>
          <p:nvPr/>
        </p:nvSpPr>
        <p:spPr>
          <a:xfrm>
            <a:off x="4407408" y="443484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0C831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72000" y="4544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Filtrlar: Metrics, Location, Size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4572000" y="5029200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4572000" y="5303520"/>
            <a:ext cx="2414016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572000" y="5577840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0" name="Shape 25"/>
          <p:cNvSpPr/>
          <p:nvPr/>
        </p:nvSpPr>
        <p:spPr>
          <a:xfrm>
            <a:off x="4572000" y="5852160"/>
            <a:ext cx="1810512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7973568" y="443484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138160" y="4544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Pivot: Outlet Type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138160" y="5029200"/>
            <a:ext cx="3017520" cy="201168"/>
          </a:xfrm>
          <a:prstGeom prst="roundRect">
            <a:avLst>
              <a:gd name="adj" fmla="val 27273"/>
            </a:avLst>
          </a:prstGeom>
          <a:solidFill>
            <a:srgbClr val="0C831F"/>
          </a:solidFill>
          <a:ln/>
        </p:spPr>
      </p:sp>
      <p:sp>
        <p:nvSpPr>
          <p:cNvPr id="34" name="Shape 29"/>
          <p:cNvSpPr/>
          <p:nvPr/>
        </p:nvSpPr>
        <p:spPr>
          <a:xfrm>
            <a:off x="8138160" y="5340096"/>
            <a:ext cx="2564892" cy="201168"/>
          </a:xfrm>
          <a:prstGeom prst="roundRect">
            <a:avLst>
              <a:gd name="adj" fmla="val 27273"/>
            </a:avLst>
          </a:prstGeom>
          <a:solidFill>
            <a:srgbClr val="E3E0CC"/>
          </a:solidFill>
          <a:ln/>
        </p:spPr>
      </p:sp>
      <p:sp>
        <p:nvSpPr>
          <p:cNvPr id="35" name="Shape 30"/>
          <p:cNvSpPr/>
          <p:nvPr/>
        </p:nvSpPr>
        <p:spPr>
          <a:xfrm>
            <a:off x="8138160" y="5650992"/>
            <a:ext cx="1961388" cy="201168"/>
          </a:xfrm>
          <a:prstGeom prst="roundRect">
            <a:avLst>
              <a:gd name="adj" fmla="val 27273"/>
            </a:avLst>
          </a:prstGeom>
          <a:solidFill>
            <a:srgbClr val="E3E0CC"/>
          </a:solidFill>
          <a:ln/>
        </p:spPr>
      </p:sp>
      <p:sp>
        <p:nvSpPr>
          <p:cNvPr id="36" name="Shape 31"/>
          <p:cNvSpPr/>
          <p:nvPr/>
        </p:nvSpPr>
        <p:spPr>
          <a:xfrm>
            <a:off x="8138160" y="5961888"/>
            <a:ext cx="2353666" cy="201168"/>
          </a:xfrm>
          <a:prstGeom prst="roundRect">
            <a:avLst>
              <a:gd name="adj" fmla="val 27273"/>
            </a:avLst>
          </a:prstGeom>
          <a:solidFill>
            <a:srgbClr val="E3E0CC"/>
          </a:solidFill>
          <a:ln/>
        </p:spPr>
      </p:sp>
      <p:sp>
        <p:nvSpPr>
          <p:cNvPr id="37" name="Text 32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Filtrlar bilan interaktiv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508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O'ng paneldagi uchta slayzer butun sahifani bir vaqtda qayta hisoblaydi.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2423160"/>
            <a:ext cx="3429000" cy="54864"/>
          </a:xfrm>
          <a:prstGeom prst="rect">
            <a:avLst/>
          </a:prstGeom>
          <a:solidFill>
            <a:srgbClr val="0C83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Ko'rsatkichni almashtiradi: savdo, reyting yoki soni.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98848" y="2423160"/>
            <a:ext cx="3429000" cy="54864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98848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Type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1, 2 va 3 shaharlarni ajratadi.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56448" y="2423160"/>
            <a:ext cx="3429000" cy="54864"/>
          </a:xfrm>
          <a:prstGeom prst="rect">
            <a:avLst/>
          </a:prstGeom>
          <a:solidFill>
            <a:srgbClr val="1226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56448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Size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156448" y="30632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Medium va High do'konlarni solishtiradi.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qanday savollarga javob beradi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41248" y="2011680"/>
            <a:ext cx="9601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2011680"/>
            <a:ext cx="73152" cy="685800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168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mahsulot turlari eng ko'p savdo keltiryapti?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880360"/>
            <a:ext cx="9601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880360"/>
            <a:ext cx="73152" cy="685800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8803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do'kon formati va hajmi samaraliroq?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41248" y="3749040"/>
            <a:ext cx="9601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749040"/>
            <a:ext cx="73152" cy="685800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74904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va ko'rinuvchanlik savdoga bog'liqmi?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41248" y="4617720"/>
            <a:ext cx="9601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8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4617720"/>
            <a:ext cx="73152" cy="685800"/>
          </a:xfrm>
          <a:prstGeom prst="rect">
            <a:avLst/>
          </a:prstGeom>
          <a:solidFill>
            <a:srgbClr val="F8CB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61772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do'konlar eskilaridan farq qiladimi?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02975" y="6355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2026-10-04T15:11:11Z</dcterms:created>
  <dcterms:modified xsi:type="dcterms:W3CDTF">2026-10-04T15:11:11Z</dcterms:modified>
</cp:coreProperties>
</file>